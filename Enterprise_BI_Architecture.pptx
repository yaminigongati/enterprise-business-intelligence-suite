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1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A53CD-EE94-C30E-D4C3-72C46294A8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F536FF-6B50-47EE-9F75-DD33AC869B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F3B43A-C644-7506-D5A4-654128CA1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EBCAC-A464-44B1-A145-4EACB78EBA2A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AA69B-9D3E-8D58-2BD4-2A5870AC5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CABE9-8CDC-791B-ACA9-99BEF45DD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99EF5-0AA3-4F96-AE04-13CC76F212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7821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B4E58-D01F-99F5-7F85-61AA363A4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39CA1-CB36-70AA-36A9-1BEC513A65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408550-4B13-D4E7-C77E-6E6C04E25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EBCAC-A464-44B1-A145-4EACB78EBA2A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F540D-C70B-7C77-37E1-C5B2FD775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E56F8A-734C-3EE4-057F-1EF4D2EB3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99EF5-0AA3-4F96-AE04-13CC76F212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452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612E1-A21E-26FA-88E7-11AD745C4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4D8F96-4F55-B218-01A8-0FB53C1AE1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7DFAD-22EF-2A55-CD57-CE3159C0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EBCAC-A464-44B1-A145-4EACB78EBA2A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7A2F4-015F-FAA6-E4B7-74C398CB0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1A802-0576-6625-86A5-6503DFDE4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99EF5-0AA3-4F96-AE04-13CC76F212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6213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AEF39-0ABE-ABA4-50CC-8FE8FD9D9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06AB5-567E-7090-178E-25FE7D67A0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8DB30C-E782-DB54-FF21-3DF6EA8F5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B18BE6-317E-2AD5-29D5-1C3750076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EBCAC-A464-44B1-A145-4EACB78EBA2A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0A723B-FCCA-3778-2270-CD0ECA316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D97E5-B997-AA73-5647-F2E1D2DA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99EF5-0AA3-4F96-AE04-13CC76F212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5708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BB09C-53A6-4836-BF7C-B2F76485D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205E32-254D-5580-7F44-AEA50D7C8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1AF62D-0C64-67BC-1AFD-6F09E4A4A3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C20C7B-105A-FE38-2060-A1813EDB62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DAA09C-BBEC-BB97-B927-02431E12BC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44D20B-FDC9-1E4D-CCE8-7454465AA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EBCAC-A464-44B1-A145-4EACB78EBA2A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A85615-F2DC-9E87-69A1-790EBD743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1914DC-A252-082D-FF7E-FC04FC22C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99EF5-0AA3-4F96-AE04-13CC76F212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5663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698B7-D136-9765-A8FC-FD5546232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8E8D3C-EE3D-8F29-2199-3337AB860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EBCAC-A464-44B1-A145-4EACB78EBA2A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1039A4-2A92-3606-6F27-18ADE0D56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15FFB3-BC68-89DF-CAFA-D2FABB6F4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99EF5-0AA3-4F96-AE04-13CC76F212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9182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836DC3-5CE7-5C4D-D8D0-0EC4B0C47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EBCAC-A464-44B1-A145-4EACB78EBA2A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C2B6A2-F508-09EF-DAF6-418447DA4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DDB8C4-2E73-6985-651B-4F06EE9D0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99EF5-0AA3-4F96-AE04-13CC76F212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3243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BB3E1-7F3D-A1E3-7C48-B10BEF6DB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13E51-6BD0-26A1-AF91-694C87AB7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32632F-8A49-6B93-581F-C2B34308E1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2E66D3-84D8-5722-8BE7-C260C739B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EBCAC-A464-44B1-A145-4EACB78EBA2A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7E5691-CC2A-0C59-932D-D24874C6F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2E80B1-F077-A715-7141-B96880FFC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99EF5-0AA3-4F96-AE04-13CC76F212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796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F6DE0-F1C3-B57E-9466-E957F18FD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963D00-E862-C4F6-6FAA-4FBBF7475C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A219A-A0E3-8628-EF8E-FB4E42B905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021315-7603-1C45-1E91-43B91D9FD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EBCAC-A464-44B1-A145-4EACB78EBA2A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381E11-D196-1468-BCDA-FD9D4A91B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8C0DB6-FF66-ED91-BE0F-5F974710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99EF5-0AA3-4F96-AE04-13CC76F212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481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50249-6071-3913-1FB6-384D6970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301991-709A-8AD2-1132-FA7A5576DF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2FE1C1-D4E5-6B48-C123-5D838C859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EBCAC-A464-44B1-A145-4EACB78EBA2A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2D1AB-1D0B-C978-A0DC-8C4C4F516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F6B1A-A606-46A8-E544-56C19DB01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99EF5-0AA3-4F96-AE04-13CC76F212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9917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BC0B49-947A-26D8-594B-783282D60B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95708E-1ECD-69DF-1533-EE12BBE52B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DEC15-E0D3-BC35-549C-3C40488CE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EBCAC-A464-44B1-A145-4EACB78EBA2A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65F6F-237A-AE2F-6BE9-49E0790E1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4C411-B692-C701-3739-1A11FDC2B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99EF5-0AA3-4F96-AE04-13CC76F212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4582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02E792-5EE0-C631-6D85-3BCB10780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5AECAC-4DE6-D428-EADA-EFF75B598B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C1401B-18BC-863E-0B8E-25C8E43A0C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AEBCAC-A464-44B1-A145-4EACB78EBA2A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0D8CA-D1D5-6C90-98FE-5190A0AEA6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D99F7-4339-9A1A-CD49-D57127759D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699EF5-0AA3-4F96-AE04-13CC76F212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2102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44F40-D187-9865-F552-A4EB32D96B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9513"/>
            <a:ext cx="9144000" cy="735496"/>
          </a:xfrm>
        </p:spPr>
        <p:txBody>
          <a:bodyPr>
            <a:normAutofit fontScale="90000"/>
          </a:bodyPr>
          <a:lstStyle/>
          <a:p>
            <a:r>
              <a:rPr lang="en-US" sz="2800" b="1" dirty="0"/>
              <a:t>ENTERPRISE BUSINESS INTELLIGENCE SUITE</a:t>
            </a:r>
            <a:br>
              <a:rPr lang="en-US" sz="2400" b="1" dirty="0"/>
            </a:br>
            <a:endParaRPr lang="en-IN" sz="24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EAC92E-9C26-DF84-4BB1-13DBA01CDB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6958"/>
            <a:ext cx="9144000" cy="318052"/>
          </a:xfrm>
        </p:spPr>
        <p:txBody>
          <a:bodyPr>
            <a:normAutofit/>
          </a:bodyPr>
          <a:lstStyle/>
          <a:p>
            <a:r>
              <a:rPr lang="en-US" sz="1600" b="1" dirty="0"/>
              <a:t>Data Architecture &amp; Reporting Workflow</a:t>
            </a:r>
            <a:endParaRPr lang="en-IN" sz="16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0EEF465-F892-876E-8CA6-2107CD64B822}"/>
              </a:ext>
            </a:extLst>
          </p:cNvPr>
          <p:cNvSpPr/>
          <p:nvPr/>
        </p:nvSpPr>
        <p:spPr>
          <a:xfrm>
            <a:off x="3291974" y="943596"/>
            <a:ext cx="5536096" cy="9130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1.Source Dataset</a:t>
            </a:r>
          </a:p>
          <a:p>
            <a:pPr algn="ctr"/>
            <a:r>
              <a:rPr lang="en-US" dirty="0"/>
              <a:t>AdventureWorksDW2025</a:t>
            </a:r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E5B766C-93B3-76C2-AD17-2BC07872D2D1}"/>
              </a:ext>
            </a:extLst>
          </p:cNvPr>
          <p:cNvSpPr/>
          <p:nvPr/>
        </p:nvSpPr>
        <p:spPr>
          <a:xfrm>
            <a:off x="3327952" y="2147542"/>
            <a:ext cx="5536096" cy="9130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2.SQL Server 2025</a:t>
            </a:r>
          </a:p>
          <a:p>
            <a:pPr algn="ctr"/>
            <a:r>
              <a:rPr lang="en-US" dirty="0"/>
              <a:t>Database &amp; SQL Analysis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26C340F-0642-F495-47BF-964FB089C053}"/>
              </a:ext>
            </a:extLst>
          </p:cNvPr>
          <p:cNvSpPr/>
          <p:nvPr/>
        </p:nvSpPr>
        <p:spPr>
          <a:xfrm>
            <a:off x="3299791" y="3428276"/>
            <a:ext cx="5536096" cy="9130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3.Data Preparation</a:t>
            </a:r>
          </a:p>
          <a:p>
            <a:pPr algn="ctr"/>
            <a:r>
              <a:rPr lang="en-US" dirty="0"/>
              <a:t>Queries , transformations &amp; validation</a:t>
            </a:r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B0B5D73-A1DA-475A-01C1-F309794D2693}"/>
              </a:ext>
            </a:extLst>
          </p:cNvPr>
          <p:cNvSpPr/>
          <p:nvPr/>
        </p:nvSpPr>
        <p:spPr>
          <a:xfrm>
            <a:off x="3327952" y="4710458"/>
            <a:ext cx="5536096" cy="8256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4.Power BI Desktop</a:t>
            </a:r>
          </a:p>
          <a:p>
            <a:pPr algn="ctr"/>
            <a:r>
              <a:rPr lang="en-US" dirty="0"/>
              <a:t>KPIs , slicers &amp; visualizations</a:t>
            </a:r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B2E9505-027F-1BB3-0E96-A4831470502C}"/>
              </a:ext>
            </a:extLst>
          </p:cNvPr>
          <p:cNvSpPr/>
          <p:nvPr/>
        </p:nvSpPr>
        <p:spPr>
          <a:xfrm>
            <a:off x="3327952" y="5784818"/>
            <a:ext cx="5536096" cy="8256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5.Business Insights</a:t>
            </a:r>
          </a:p>
          <a:p>
            <a:pPr algn="ctr"/>
            <a:r>
              <a:rPr lang="en-US" dirty="0"/>
              <a:t>Sales trends, products , costs &amp; profitability</a:t>
            </a:r>
            <a:endParaRPr lang="en-IN" dirty="0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44068908-F2CC-D8F5-D82C-3E56BD4BD62F}"/>
              </a:ext>
            </a:extLst>
          </p:cNvPr>
          <p:cNvSpPr/>
          <p:nvPr/>
        </p:nvSpPr>
        <p:spPr>
          <a:xfrm>
            <a:off x="5817706" y="3092449"/>
            <a:ext cx="484632" cy="259039"/>
          </a:xfrm>
          <a:prstGeom prst="downArrow">
            <a:avLst>
              <a:gd name="adj1" fmla="val 4881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12B984AA-20A2-D7B9-99AB-6C55EB565E1B}"/>
              </a:ext>
            </a:extLst>
          </p:cNvPr>
          <p:cNvSpPr/>
          <p:nvPr/>
        </p:nvSpPr>
        <p:spPr>
          <a:xfrm>
            <a:off x="5852028" y="4461736"/>
            <a:ext cx="484632" cy="259039"/>
          </a:xfrm>
          <a:prstGeom prst="downArrow">
            <a:avLst>
              <a:gd name="adj1" fmla="val 4881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EF5B3430-918A-D7E7-81A7-7103BB82CD4B}"/>
              </a:ext>
            </a:extLst>
          </p:cNvPr>
          <p:cNvSpPr/>
          <p:nvPr/>
        </p:nvSpPr>
        <p:spPr>
          <a:xfrm>
            <a:off x="5852028" y="5567915"/>
            <a:ext cx="484632" cy="259039"/>
          </a:xfrm>
          <a:prstGeom prst="downArrow">
            <a:avLst>
              <a:gd name="adj1" fmla="val 4881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6B747FFC-79C4-5D77-1765-7F8FBD1E1A92}"/>
              </a:ext>
            </a:extLst>
          </p:cNvPr>
          <p:cNvSpPr/>
          <p:nvPr/>
        </p:nvSpPr>
        <p:spPr>
          <a:xfrm>
            <a:off x="5817706" y="1862964"/>
            <a:ext cx="484632" cy="259039"/>
          </a:xfrm>
          <a:prstGeom prst="downArrow">
            <a:avLst>
              <a:gd name="adj1" fmla="val 4881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" name="Graphic 14" descr="Database">
            <a:extLst>
              <a:ext uri="{FF2B5EF4-FFF2-40B4-BE49-F238E27FC236}">
                <a16:creationId xmlns:a16="http://schemas.microsoft.com/office/drawing/2014/main" id="{777FFB83-D38B-11F7-1014-D4C31ECE92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17905" y="989702"/>
            <a:ext cx="914400" cy="914400"/>
          </a:xfrm>
          <a:prstGeom prst="rect">
            <a:avLst/>
          </a:prstGeom>
        </p:spPr>
      </p:pic>
      <p:pic>
        <p:nvPicPr>
          <p:cNvPr id="17" name="Graphic 16" descr="Database">
            <a:extLst>
              <a:ext uri="{FF2B5EF4-FFF2-40B4-BE49-F238E27FC236}">
                <a16:creationId xmlns:a16="http://schemas.microsoft.com/office/drawing/2014/main" id="{03831877-98F4-2DE9-B493-F46006D44D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15057" y="2225120"/>
            <a:ext cx="914400" cy="914400"/>
          </a:xfrm>
          <a:prstGeom prst="rect">
            <a:avLst/>
          </a:prstGeom>
        </p:spPr>
      </p:pic>
      <p:pic>
        <p:nvPicPr>
          <p:cNvPr id="19" name="Graphic 18" descr="Statistics RTL">
            <a:extLst>
              <a:ext uri="{FF2B5EF4-FFF2-40B4-BE49-F238E27FC236}">
                <a16:creationId xmlns:a16="http://schemas.microsoft.com/office/drawing/2014/main" id="{DAC69F12-F713-CE5C-A07A-54ED5E5938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76930" y="3466376"/>
            <a:ext cx="914400" cy="914400"/>
          </a:xfrm>
          <a:prstGeom prst="rect">
            <a:avLst/>
          </a:prstGeom>
        </p:spPr>
      </p:pic>
      <p:pic>
        <p:nvPicPr>
          <p:cNvPr id="21" name="Graphic 20" descr="Bar graph with upward trend">
            <a:extLst>
              <a:ext uri="{FF2B5EF4-FFF2-40B4-BE49-F238E27FC236}">
                <a16:creationId xmlns:a16="http://schemas.microsoft.com/office/drawing/2014/main" id="{E1B60A4B-995D-F485-0322-DC5F0F1424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87478" y="4700519"/>
            <a:ext cx="914400" cy="914400"/>
          </a:xfrm>
          <a:prstGeom prst="rect">
            <a:avLst/>
          </a:prstGeom>
        </p:spPr>
      </p:pic>
      <p:pic>
        <p:nvPicPr>
          <p:cNvPr id="23" name="Graphic 22" descr="Presentation with checklist RTL">
            <a:extLst>
              <a:ext uri="{FF2B5EF4-FFF2-40B4-BE49-F238E27FC236}">
                <a16:creationId xmlns:a16="http://schemas.microsoft.com/office/drawing/2014/main" id="{5A3F2A34-D82B-26BA-142B-EAAAB6EA9A0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576930" y="5826954"/>
            <a:ext cx="914400" cy="487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334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55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ENTERPRISE BUSINESS INTELLIGENCE SUITE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 gongati</dc:creator>
  <cp:lastModifiedBy>harsh gongati</cp:lastModifiedBy>
  <cp:revision>2</cp:revision>
  <dcterms:created xsi:type="dcterms:W3CDTF">2026-10-25T14:54:00Z</dcterms:created>
  <dcterms:modified xsi:type="dcterms:W3CDTF">2026-10-25T15:12:00Z</dcterms:modified>
</cp:coreProperties>
</file>