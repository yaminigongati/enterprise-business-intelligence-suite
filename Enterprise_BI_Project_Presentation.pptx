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2748"/>
          </a:solidFill>
          <a:ln w="12700"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46304" cy="4480560"/>
          </a:xfrm>
          <a:prstGeom prst="rect">
            <a:avLst/>
          </a:prstGeom>
          <a:solidFill>
            <a:srgbClr val="1F857D"/>
          </a:solidFill>
          <a:ln w="12700">
            <a:solidFill>
              <a:srgbClr val="1F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43000"/>
            <a:ext cx="9875520" cy="12344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3400" b="1" i="0">
                <a:solidFill>
                  <a:srgbClr val="142748"/>
                </a:solidFill>
                <a:latin typeface="Aptos"/>
              </a:defRPr>
            </a:pPr>
            <a:r>
              <a:t>ENTERPRISE BUSINESS</a:t>
            </a:r>
          </a:p>
          <a:p>
            <a:pPr algn="l">
              <a:defRPr sz="3400" b="1" i="0">
                <a:solidFill>
                  <a:srgbClr val="142748"/>
                </a:solidFill>
                <a:latin typeface="Aptos"/>
              </a:defRPr>
            </a:pPr>
            <a:r>
              <a:t>INTELLIGENCE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743200"/>
            <a:ext cx="987552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000" b="1" i="0">
                <a:solidFill>
                  <a:srgbClr val="2C67B1"/>
                </a:solidFill>
                <a:latin typeface="Aptos"/>
              </a:defRPr>
            </a:pPr>
            <a:r>
              <a:t>SQL Server + Power BI | Sales Analytics &amp;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474720"/>
            <a:ext cx="9052560" cy="7772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700" b="0" i="0">
                <a:solidFill>
                  <a:srgbClr val="2B3645"/>
                </a:solidFill>
                <a:latin typeface="Aptos"/>
              </a:defRPr>
            </a:pPr>
            <a:r>
              <a:t>A business intelligence project using the AdventureWorksDW2025 sample data warehouse.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" y="4709160"/>
            <a:ext cx="4937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791456"/>
            <a:ext cx="457200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500" b="1" i="0">
                <a:solidFill>
                  <a:srgbClr val="142748"/>
                </a:solidFill>
                <a:latin typeface="Aptos"/>
              </a:defRPr>
            </a:pPr>
            <a:r>
              <a:t>Prepared by: Yamini Gongati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5806440"/>
            <a:ext cx="987552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0" i="0">
                <a:solidFill>
                  <a:srgbClr val="657282"/>
                </a:solidFill>
                <a:latin typeface="Aptos"/>
              </a:defRPr>
            </a:pPr>
            <a:r>
              <a:t>Nexvia Technologies — Data Analytics Internship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 i="0">
                <a:solidFill>
                  <a:srgbClr val="657282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 i="0">
                <a:solidFill>
                  <a:srgbClr val="142748"/>
                </a:solidFill>
                <a:latin typeface="Aptos"/>
              </a:defRPr>
            </a:pPr>
            <a:r>
              <a:t>01 |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 i="0">
                <a:solidFill>
                  <a:srgbClr val="657282"/>
                </a:solidFill>
                <a:latin typeface="Aptos"/>
              </a:defRPr>
            </a:pPr>
            <a:r>
              <a:t>Turning structured sales data into interactive business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88720"/>
            <a:ext cx="10972800" cy="22860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 i="0">
                <a:solidFill>
                  <a:srgbClr val="6572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57800" cy="4343400"/>
          </a:xfrm>
          <a:prstGeom prst="roundRect">
            <a:avLst/>
          </a:prstGeom>
          <a:solidFill>
            <a:srgbClr val="E4EE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 i="0">
                <a:solidFill>
                  <a:srgbClr val="2C67B1"/>
                </a:solidFill>
                <a:latin typeface="Aptos"/>
              </a:defRPr>
            </a:pPr>
            <a:r>
              <a:t>PROJECT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572000" cy="22860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200" b="1" i="0">
                <a:solidFill>
                  <a:srgbClr val="142748"/>
                </a:solidFill>
                <a:latin typeface="Aptos"/>
              </a:defRPr>
            </a:pPr>
            <a:r>
              <a:t>Analyze sales-related data with SQL, calculate business measures, and present results through an interactive Power BI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983480"/>
            <a:ext cx="457200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400" b="1" i="0">
                <a:solidFill>
                  <a:srgbClr val="657282"/>
                </a:solidFill>
                <a:latin typeface="Aptos"/>
              </a:defRPr>
            </a:pPr>
            <a:r>
              <a:t>Dataset: AdventureWorksDW2025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257800" cy="4343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466344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 i="0">
                <a:solidFill>
                  <a:srgbClr val="1F857D"/>
                </a:solidFill>
                <a:latin typeface="Aptos"/>
              </a:defRPr>
            </a:pPr>
            <a:r>
              <a:t>PROJECT GOALS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23160"/>
            <a:ext cx="4572000" cy="30175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B3645"/>
                </a:solidFill>
                <a:latin typeface="Aptos"/>
              </a:defRPr>
            </a:pPr>
            <a:r>
              <a:t>•  Explore and analyze sales data using SQL</a:t>
            </a:r>
          </a:p>
          <a:p>
            <a:pPr>
              <a:spcAft>
                <a:spcPts val="1300"/>
              </a:spcAft>
              <a:defRPr sz="1700">
                <a:solidFill>
                  <a:srgbClr val="2B3645"/>
                </a:solidFill>
                <a:latin typeface="Aptos"/>
              </a:defRPr>
            </a:pPr>
            <a:r>
              <a:t>•  Report sales, quantity, costs and profitability</a:t>
            </a:r>
          </a:p>
          <a:p>
            <a:pPr>
              <a:spcAft>
                <a:spcPts val="1300"/>
              </a:spcAft>
              <a:defRPr sz="1700">
                <a:solidFill>
                  <a:srgbClr val="2B3645"/>
                </a:solidFill>
                <a:latin typeface="Aptos"/>
              </a:defRPr>
            </a:pPr>
            <a:r>
              <a:t>•  Visualize product, channel and country trends</a:t>
            </a:r>
          </a:p>
          <a:p>
            <a:pPr>
              <a:spcAft>
                <a:spcPts val="1300"/>
              </a:spcAft>
              <a:defRPr sz="1700">
                <a:solidFill>
                  <a:srgbClr val="2B3645"/>
                </a:solidFill>
                <a:latin typeface="Aptos"/>
              </a:defRPr>
            </a:pPr>
            <a:r>
              <a:t>•  Enable interactive exploration with slicers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 i="0">
                <a:solidFill>
                  <a:srgbClr val="142748"/>
                </a:solidFill>
                <a:latin typeface="Aptos"/>
              </a:defRPr>
            </a:pPr>
            <a:r>
              <a:t>02 | Business 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 i="0">
                <a:solidFill>
                  <a:srgbClr val="657282"/>
                </a:solidFill>
                <a:latin typeface="Aptos"/>
              </a:defRPr>
            </a:pPr>
            <a:r>
              <a:t>Why the analysis and dashboard are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88720"/>
            <a:ext cx="10972800" cy="22860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 i="0">
                <a:solidFill>
                  <a:srgbClr val="6572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5780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66344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 i="0">
                <a:solidFill>
                  <a:srgbClr val="2C67B1"/>
                </a:solidFill>
                <a:latin typeface="Aptos"/>
              </a:defRPr>
            </a:pPr>
            <a:r>
              <a:t>BUSINESS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4572000" cy="2651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0" i="0">
                <a:solidFill>
                  <a:srgbClr val="2B3645"/>
                </a:solidFill>
                <a:latin typeface="Aptos"/>
              </a:defRPr>
            </a:pPr>
            <a:r>
              <a:t>Sales data can be difficult to interpret when key measures are spread across records and categories. A consolidated view helps users explore performance and compare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57800" cy="4434840"/>
          </a:xfrm>
          <a:prstGeom prst="roundRect">
            <a:avLst/>
          </a:prstGeom>
          <a:solidFill>
            <a:srgbClr val="E0F3E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74519"/>
            <a:ext cx="466344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 i="0">
                <a:solidFill>
                  <a:srgbClr val="1F857D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4572000" cy="32004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B3645"/>
                </a:solidFill>
                <a:latin typeface="Aptos"/>
              </a:defRPr>
            </a:pPr>
            <a:r>
              <a:t>•  Query and aggregate data in SQL Server</a:t>
            </a:r>
          </a:p>
          <a:p>
            <a:pPr>
              <a:spcAft>
                <a:spcPts val="1200"/>
              </a:spcAft>
              <a:defRPr sz="1700">
                <a:solidFill>
                  <a:srgbClr val="2B3645"/>
                </a:solidFill>
                <a:latin typeface="Aptos"/>
              </a:defRPr>
            </a:pPr>
            <a:r>
              <a:t>•  Calculate and display key performance indicators</a:t>
            </a:r>
          </a:p>
          <a:p>
            <a:pPr>
              <a:spcAft>
                <a:spcPts val="1200"/>
              </a:spcAft>
              <a:defRPr sz="1700">
                <a:solidFill>
                  <a:srgbClr val="2B3645"/>
                </a:solidFill>
                <a:latin typeface="Aptos"/>
              </a:defRPr>
            </a:pPr>
            <a:r>
              <a:t>•  Build interactive visualizations in Power BI</a:t>
            </a:r>
          </a:p>
          <a:p>
            <a:pPr>
              <a:spcAft>
                <a:spcPts val="1200"/>
              </a:spcAft>
              <a:defRPr sz="1700">
                <a:solidFill>
                  <a:srgbClr val="2B3645"/>
                </a:solidFill>
                <a:latin typeface="Aptos"/>
              </a:defRPr>
            </a:pPr>
            <a:r>
              <a:t>•  Document architecture and validation activities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 i="0">
                <a:solidFill>
                  <a:srgbClr val="142748"/>
                </a:solidFill>
                <a:latin typeface="Aptos"/>
              </a:defRPr>
            </a:pPr>
            <a:r>
              <a:t>03 | Tools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 i="0">
                <a:solidFill>
                  <a:srgbClr val="657282"/>
                </a:solidFill>
                <a:latin typeface="Aptos"/>
              </a:defRPr>
            </a:pPr>
            <a:r>
              <a:t>High-level flow from source data to business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88720"/>
            <a:ext cx="10972800" cy="22860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 i="0">
                <a:solidFill>
                  <a:srgbClr val="6572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1965960" cy="1508760"/>
          </a:xfrm>
          <a:prstGeom prst="roundRect">
            <a:avLst/>
          </a:prstGeom>
          <a:solidFill>
            <a:srgbClr val="E4EE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258568"/>
            <a:ext cx="1746504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200" b="1" i="0">
                <a:solidFill>
                  <a:srgbClr val="2C67B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624328"/>
            <a:ext cx="1746504" cy="7315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600" b="1" i="0">
                <a:solidFill>
                  <a:srgbClr val="142748"/>
                </a:solidFill>
                <a:latin typeface="Aptos"/>
              </a:defRPr>
            </a:pPr>
            <a:r>
              <a:t>AdventureWorks</a:t>
            </a:r>
          </a:p>
          <a:p>
            <a:pPr algn="ctr">
              <a:defRPr sz="1600" b="1" i="0">
                <a:solidFill>
                  <a:srgbClr val="142748"/>
                </a:solidFill>
                <a:latin typeface="Aptos"/>
              </a:defRPr>
            </a:pPr>
            <a:r>
              <a:t>DW2025</a:t>
            </a:r>
          </a:p>
        </p:txBody>
      </p:sp>
      <p:sp>
        <p:nvSpPr>
          <p:cNvPr id="9" name="Chevron 8"/>
          <p:cNvSpPr/>
          <p:nvPr/>
        </p:nvSpPr>
        <p:spPr>
          <a:xfrm>
            <a:off x="2679192" y="2743200"/>
            <a:ext cx="256032" cy="320040"/>
          </a:xfrm>
          <a:prstGeom prst="chevron">
            <a:avLst/>
          </a:prstGeom>
          <a:solidFill>
            <a:srgbClr val="2C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08376" y="2148840"/>
            <a:ext cx="1965960" cy="1508760"/>
          </a:xfrm>
          <a:prstGeom prst="roundRect">
            <a:avLst/>
          </a:prstGeom>
          <a:solidFill>
            <a:srgbClr val="E0F3E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104" y="2258568"/>
            <a:ext cx="1746504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200" b="1" i="0">
                <a:solidFill>
                  <a:srgbClr val="1F85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104" y="2624328"/>
            <a:ext cx="1746504" cy="7315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600" b="1" i="0">
                <a:solidFill>
                  <a:srgbClr val="142748"/>
                </a:solidFill>
                <a:latin typeface="Aptos"/>
              </a:defRPr>
            </a:pPr>
            <a:r>
              <a:t>SQL Server</a:t>
            </a:r>
          </a:p>
          <a:p>
            <a:pPr algn="ctr">
              <a:defRPr sz="1600" b="1" i="0">
                <a:solidFill>
                  <a:srgbClr val="142748"/>
                </a:solidFill>
                <a:latin typeface="Aptos"/>
              </a:defRPr>
            </a:pPr>
            <a:r>
              <a:t>2025</a:t>
            </a:r>
          </a:p>
        </p:txBody>
      </p:sp>
      <p:sp>
        <p:nvSpPr>
          <p:cNvPr id="13" name="Chevron 12"/>
          <p:cNvSpPr/>
          <p:nvPr/>
        </p:nvSpPr>
        <p:spPr>
          <a:xfrm>
            <a:off x="5029199" y="2743200"/>
            <a:ext cx="256032" cy="320040"/>
          </a:xfrm>
          <a:prstGeom prst="chevron">
            <a:avLst/>
          </a:prstGeom>
          <a:solidFill>
            <a:srgbClr val="2C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58383" y="2148840"/>
            <a:ext cx="1965960" cy="1508760"/>
          </a:xfrm>
          <a:prstGeom prst="roundRect">
            <a:avLst/>
          </a:prstGeom>
          <a:solidFill>
            <a:srgbClr val="FCF4E1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2" y="2258568"/>
            <a:ext cx="1746504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200" b="1" i="0">
                <a:solidFill>
                  <a:srgbClr val="D69D3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2624328"/>
            <a:ext cx="1746504" cy="7315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600" b="1" i="0">
                <a:solidFill>
                  <a:srgbClr val="142748"/>
                </a:solidFill>
                <a:latin typeface="Aptos"/>
              </a:defRPr>
            </a:pPr>
            <a:r>
              <a:t>Data preparation</a:t>
            </a:r>
          </a:p>
          <a:p>
            <a:pPr algn="ctr">
              <a:defRPr sz="1600" b="1" i="0">
                <a:solidFill>
                  <a:srgbClr val="142748"/>
                </a:solidFill>
                <a:latin typeface="Aptos"/>
              </a:defRPr>
            </a:pPr>
            <a:r>
              <a:t>&amp; validation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7379208" y="2743200"/>
            <a:ext cx="256032" cy="320040"/>
          </a:xfrm>
          <a:prstGeom prst="chevron">
            <a:avLst/>
          </a:prstGeom>
          <a:solidFill>
            <a:srgbClr val="2C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08392" y="2148840"/>
            <a:ext cx="1965960" cy="1508760"/>
          </a:xfrm>
          <a:prstGeom prst="roundRect">
            <a:avLst/>
          </a:prstGeom>
          <a:solidFill>
            <a:srgbClr val="EEE7F9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19" y="2258568"/>
            <a:ext cx="1746504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200" b="1" i="0">
                <a:solidFill>
                  <a:srgbClr val="6E50A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19" y="2624328"/>
            <a:ext cx="1746504" cy="7315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600" b="1" i="0">
                <a:solidFill>
                  <a:srgbClr val="142748"/>
                </a:solidFill>
                <a:latin typeface="Aptos"/>
              </a:defRPr>
            </a:pPr>
            <a:r>
              <a:t>Power BI</a:t>
            </a:r>
          </a:p>
          <a:p>
            <a:pPr algn="ctr">
              <a:defRPr sz="1600" b="1" i="0">
                <a:solidFill>
                  <a:srgbClr val="142748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21" name="Chevron 20"/>
          <p:cNvSpPr/>
          <p:nvPr/>
        </p:nvSpPr>
        <p:spPr>
          <a:xfrm>
            <a:off x="9729216" y="2743200"/>
            <a:ext cx="256032" cy="320040"/>
          </a:xfrm>
          <a:prstGeom prst="chevron">
            <a:avLst/>
          </a:prstGeom>
          <a:solidFill>
            <a:srgbClr val="2C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0" y="2148840"/>
            <a:ext cx="1965960" cy="15087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68128" y="2258568"/>
            <a:ext cx="1746504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200" b="1" i="0">
                <a:solidFill>
                  <a:srgbClr val="14274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8128" y="2624328"/>
            <a:ext cx="1746504" cy="7315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600" b="1" i="0">
                <a:solidFill>
                  <a:srgbClr val="142748"/>
                </a:solidFill>
                <a:latin typeface="Aptos"/>
              </a:defRPr>
            </a:pPr>
            <a:r>
              <a:t>Business</a:t>
            </a:r>
          </a:p>
          <a:p>
            <a:pPr algn="ctr">
              <a:defRPr sz="1600" b="1" i="0">
                <a:solidFill>
                  <a:srgbClr val="142748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51960"/>
            <a:ext cx="1051560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500" b="0" i="0">
                <a:solidFill>
                  <a:srgbClr val="657282"/>
                </a:solidFill>
                <a:latin typeface="Aptos"/>
              </a:defRPr>
            </a:pPr>
            <a:r>
              <a:t>Core tools: SQL Server 2025 • SSMS • Power BI Desktop • Power Query / DAX where used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40280" y="5074920"/>
            <a:ext cx="7726679" cy="658368"/>
          </a:xfrm>
          <a:prstGeom prst="roundRect">
            <a:avLst/>
          </a:prstGeom>
          <a:solidFill>
            <a:srgbClr val="142748"/>
          </a:solidFill>
          <a:ln w="12700"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5138928"/>
            <a:ext cx="74523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FROM RAW DATA TO BUSINESS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 i="0">
                <a:solidFill>
                  <a:srgbClr val="142748"/>
                </a:solidFill>
                <a:latin typeface="Aptos"/>
              </a:defRPr>
            </a:pPr>
            <a:r>
              <a:t>04 | 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 i="0">
                <a:solidFill>
                  <a:srgbClr val="657282"/>
                </a:solidFill>
                <a:latin typeface="Aptos"/>
              </a:defRPr>
            </a:pPr>
            <a:r>
              <a:t>SQL provides the analytical foundation for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88720"/>
            <a:ext cx="10972800" cy="22860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 i="0">
                <a:solidFill>
                  <a:srgbClr val="6572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063240" cy="1554480"/>
          </a:xfrm>
          <a:prstGeom prst="roundRect">
            <a:avLst/>
          </a:prstGeom>
          <a:solidFill>
            <a:srgbClr val="E4EE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69748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 i="0">
                <a:solidFill>
                  <a:srgbClr val="2C67B1"/>
                </a:solidFill>
                <a:latin typeface="Aptos"/>
              </a:defRPr>
            </a:pPr>
            <a:r>
              <a:t>Sales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697480" cy="7132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0" i="0">
                <a:solidFill>
                  <a:srgbClr val="2B3645"/>
                </a:solidFill>
                <a:latin typeface="Aptos"/>
              </a:defRPr>
            </a:pPr>
            <a:r>
              <a:t>Aggregate sales and transaction measures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45920"/>
            <a:ext cx="3063240" cy="1554480"/>
          </a:xfrm>
          <a:prstGeom prst="roundRect">
            <a:avLst/>
          </a:prstGeom>
          <a:solidFill>
            <a:srgbClr val="E0F3E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810512"/>
            <a:ext cx="269748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 i="0">
                <a:solidFill>
                  <a:srgbClr val="1F857D"/>
                </a:solidFill>
                <a:latin typeface="Aptos"/>
              </a:defRPr>
            </a:pPr>
            <a:r>
              <a:t>Time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240280"/>
            <a:ext cx="2697480" cy="7132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0" i="0">
                <a:solidFill>
                  <a:srgbClr val="2B3645"/>
                </a:solidFill>
                <a:latin typeface="Aptos"/>
              </a:defRPr>
            </a:pPr>
            <a:r>
              <a:t>Review sales by available dates and months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645920"/>
            <a:ext cx="3063240" cy="1554480"/>
          </a:xfrm>
          <a:prstGeom prst="roundRect">
            <a:avLst/>
          </a:prstGeom>
          <a:solidFill>
            <a:srgbClr val="EEE7F9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810512"/>
            <a:ext cx="269748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 i="0">
                <a:solidFill>
                  <a:srgbClr val="6E50A3"/>
                </a:solidFill>
                <a:latin typeface="Aptos"/>
              </a:defRPr>
            </a:pPr>
            <a:r>
              <a:t>Product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240280"/>
            <a:ext cx="2697480" cy="7132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0" i="0">
                <a:solidFill>
                  <a:srgbClr val="2B3645"/>
                </a:solidFill>
                <a:latin typeface="Aptos"/>
              </a:defRPr>
            </a:pPr>
            <a:r>
              <a:t>Compare product and category sales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3063240" cy="1554480"/>
          </a:xfrm>
          <a:prstGeom prst="roundRect">
            <a:avLst/>
          </a:prstGeom>
          <a:solidFill>
            <a:srgbClr val="FCF4E1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67911"/>
            <a:ext cx="269748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 i="0">
                <a:solidFill>
                  <a:srgbClr val="D69D3A"/>
                </a:solidFill>
                <a:latin typeface="Aptos"/>
              </a:defRPr>
            </a:pPr>
            <a:r>
              <a:t>Geographical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2697480" cy="7132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0" i="0">
                <a:solidFill>
                  <a:srgbClr val="2B3645"/>
                </a:solidFill>
                <a:latin typeface="Aptos"/>
              </a:defRPr>
            </a:pPr>
            <a:r>
              <a:t>Explore country and territory performance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703320"/>
            <a:ext cx="3063240" cy="15544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867911"/>
            <a:ext cx="269748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 i="0">
                <a:solidFill>
                  <a:srgbClr val="142748"/>
                </a:solidFill>
                <a:latin typeface="Aptos"/>
              </a:defRPr>
            </a:pPr>
            <a:r>
              <a:t>Cost &amp; profitability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297680"/>
            <a:ext cx="2697480" cy="7132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0" i="0">
                <a:solidFill>
                  <a:srgbClr val="2B3645"/>
                </a:solidFill>
                <a:latin typeface="Aptos"/>
              </a:defRPr>
            </a:pPr>
            <a:r>
              <a:t>Examine cost and product-cost-based profit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3703320"/>
            <a:ext cx="3063240" cy="1554480"/>
          </a:xfrm>
          <a:prstGeom prst="roundRect">
            <a:avLst/>
          </a:prstGeom>
          <a:solidFill>
            <a:srgbClr val="E0F3E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3867911"/>
            <a:ext cx="269748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 i="0">
                <a:solidFill>
                  <a:srgbClr val="297E55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297680"/>
            <a:ext cx="2697480" cy="7132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0" i="0">
                <a:solidFill>
                  <a:srgbClr val="2B3645"/>
                </a:solidFill>
                <a:latin typeface="Aptos"/>
              </a:defRPr>
            </a:pPr>
            <a:r>
              <a:t>Check record counts, fields and totals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 i="0">
                <a:solidFill>
                  <a:srgbClr val="142748"/>
                </a:solidFill>
                <a:latin typeface="Aptos"/>
              </a:defRPr>
            </a:pPr>
            <a:r>
              <a:t>05 | 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 i="0">
                <a:solidFill>
                  <a:srgbClr val="657282"/>
                </a:solidFill>
                <a:latin typeface="Aptos"/>
              </a:defRPr>
            </a:pPr>
            <a:r>
              <a:t>A single-page interactive view of sales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88720"/>
            <a:ext cx="10972800" cy="22860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 i="0">
                <a:solidFill>
                  <a:srgbClr val="6572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175564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719072"/>
            <a:ext cx="1609344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900" b="1" i="0">
                <a:solidFill>
                  <a:srgbClr val="2C67B1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039112"/>
            <a:ext cx="1609344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000" b="1" i="0">
                <a:solidFill>
                  <a:srgbClr val="142748"/>
                </a:solidFill>
                <a:latin typeface="Aptos"/>
              </a:defRPr>
            </a:pPr>
            <a:r>
              <a:t>1.27M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96896" y="1600200"/>
            <a:ext cx="175564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0048" y="1719072"/>
            <a:ext cx="1609344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900" b="1" i="0">
                <a:solidFill>
                  <a:srgbClr val="1F857D"/>
                </a:solidFill>
                <a:latin typeface="Aptos"/>
              </a:defRPr>
            </a:pPr>
            <a:r>
              <a:t>QUANTITY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2039112"/>
            <a:ext cx="1609344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000" b="1" i="0">
                <a:solidFill>
                  <a:srgbClr val="142748"/>
                </a:solidFill>
                <a:latin typeface="Aptos"/>
              </a:defRPr>
            </a:pPr>
            <a:r>
              <a:t>62K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5424" y="1600200"/>
            <a:ext cx="175564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19072"/>
            <a:ext cx="1609344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900" b="1" i="0">
                <a:solidFill>
                  <a:srgbClr val="D69D3A"/>
                </a:solidFill>
                <a:latin typeface="Aptos"/>
              </a:defRPr>
            </a:pPr>
            <a:r>
              <a:t>TOTAL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039112"/>
            <a:ext cx="1609344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000" b="1" i="0">
                <a:solidFill>
                  <a:srgbClr val="142748"/>
                </a:solidFill>
                <a:latin typeface="Aptos"/>
              </a:defRPr>
            </a:pPr>
            <a:r>
              <a:t>637.59K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3952" y="1600200"/>
            <a:ext cx="175564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1719072"/>
            <a:ext cx="1609344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900" b="1" i="0">
                <a:solidFill>
                  <a:srgbClr val="6E50A3"/>
                </a:solidFill>
                <a:latin typeface="Aptos"/>
              </a:defRPr>
            </a:pPr>
            <a:r>
              <a:t>SALES 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2039112"/>
            <a:ext cx="1609344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000" b="1" i="0">
                <a:solidFill>
                  <a:srgbClr val="142748"/>
                </a:solidFill>
                <a:latin typeface="Aptos"/>
              </a:defRPr>
            </a:pPr>
            <a:r>
              <a:t>41K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600200"/>
            <a:ext cx="175564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1719072"/>
            <a:ext cx="1609344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900" b="1" i="0">
                <a:solidFill>
                  <a:srgbClr val="297E55"/>
                </a:solidFill>
                <a:latin typeface="Aptos"/>
              </a:defRPr>
            </a:pPr>
            <a:r>
              <a:t>PROFIT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039112"/>
            <a:ext cx="1609344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000" b="1" i="0">
                <a:solidFill>
                  <a:srgbClr val="142748"/>
                </a:solidFill>
                <a:latin typeface="Aptos"/>
              </a:defRPr>
            </a:pPr>
            <a:r>
              <a:t>49.88%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51008" y="1600200"/>
            <a:ext cx="175564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1719072"/>
            <a:ext cx="1609344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900" b="1" i="0">
                <a:solidFill>
                  <a:srgbClr val="142748"/>
                </a:solidFill>
                <a:latin typeface="Aptos"/>
              </a:defRPr>
            </a:pPr>
            <a:r>
              <a:t>PRODUCT-COST PROFIT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2039112"/>
            <a:ext cx="1609344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000" b="1" i="0">
                <a:solidFill>
                  <a:srgbClr val="142748"/>
                </a:solidFill>
                <a:latin typeface="Aptos"/>
              </a:defRPr>
            </a:pPr>
            <a:r>
              <a:t>634.47K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971800"/>
            <a:ext cx="512064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500" b="1" i="0">
                <a:solidFill>
                  <a:srgbClr val="2C67B1"/>
                </a:solidFill>
                <a:latin typeface="Aptos"/>
              </a:defRPr>
            </a:pPr>
            <a:r>
              <a:t>VISUALIZATIONS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429000"/>
            <a:ext cx="4937760" cy="18288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B3645"/>
                </a:solidFill>
                <a:latin typeface="Aptos"/>
              </a:defRPr>
            </a:pPr>
            <a:r>
              <a:t>•  Monthly sales trend</a:t>
            </a:r>
          </a:p>
          <a:p>
            <a:pPr>
              <a:spcAft>
                <a:spcPts val="700"/>
              </a:spcAft>
              <a:defRPr sz="1500">
                <a:solidFill>
                  <a:srgbClr val="2B3645"/>
                </a:solidFill>
                <a:latin typeface="Aptos"/>
              </a:defRPr>
            </a:pPr>
            <a:r>
              <a:t>•  Sales by channel</a:t>
            </a:r>
          </a:p>
          <a:p>
            <a:pPr>
              <a:spcAft>
                <a:spcPts val="700"/>
              </a:spcAft>
              <a:defRPr sz="1500">
                <a:solidFill>
                  <a:srgbClr val="2B3645"/>
                </a:solidFill>
                <a:latin typeface="Aptos"/>
              </a:defRPr>
            </a:pPr>
            <a:r>
              <a:t>•  Total sales visualization</a:t>
            </a:r>
          </a:p>
          <a:p>
            <a:pPr>
              <a:spcAft>
                <a:spcPts val="700"/>
              </a:spcAft>
              <a:defRPr sz="1500">
                <a:solidFill>
                  <a:srgbClr val="2B3645"/>
                </a:solidFill>
                <a:latin typeface="Aptos"/>
              </a:defRPr>
            </a:pPr>
            <a:r>
              <a:t>•  Sales by country</a:t>
            </a:r>
          </a:p>
          <a:p>
            <a:pPr>
              <a:spcAft>
                <a:spcPts val="700"/>
              </a:spcAft>
              <a:defRPr sz="1500">
                <a:solidFill>
                  <a:srgbClr val="2B3645"/>
                </a:solidFill>
                <a:latin typeface="Aptos"/>
              </a:defRPr>
            </a:pPr>
            <a:r>
              <a:t>•  Top 10 products by sales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063240"/>
            <a:ext cx="5257800" cy="2514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337560"/>
            <a:ext cx="470916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500" b="1" i="0">
                <a:solidFill>
                  <a:srgbClr val="1F857D"/>
                </a:solidFill>
                <a:latin typeface="Aptos"/>
              </a:defRPr>
            </a:pPr>
            <a:r>
              <a:t>INTERACTIVE EXPLORATION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840480"/>
            <a:ext cx="4572000" cy="14173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B3645"/>
                </a:solidFill>
                <a:latin typeface="Aptos"/>
              </a:defRPr>
            </a:pPr>
            <a:r>
              <a:t>•  Five slicers support filtering</a:t>
            </a:r>
          </a:p>
          <a:p>
            <a:pPr>
              <a:spcAft>
                <a:spcPts val="900"/>
              </a:spcAft>
              <a:defRPr sz="1400">
                <a:solidFill>
                  <a:srgbClr val="2B3645"/>
                </a:solidFill>
                <a:latin typeface="Aptos"/>
              </a:defRPr>
            </a:pPr>
            <a:r>
              <a:t>•  KPIs and charts respond to report context</a:t>
            </a:r>
          </a:p>
          <a:p>
            <a:pPr>
              <a:spcAft>
                <a:spcPts val="900"/>
              </a:spcAft>
              <a:defRPr sz="1400">
                <a:solidFill>
                  <a:srgbClr val="2B3645"/>
                </a:solidFill>
                <a:latin typeface="Aptos"/>
              </a:defRPr>
            </a:pPr>
            <a:r>
              <a:t>•  Values depend on current filters and measure formulas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97880"/>
            <a:ext cx="1069848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0" i="1">
                <a:solidFill>
                  <a:srgbClr val="657282"/>
                </a:solidFill>
                <a:latin typeface="Aptos"/>
              </a:defRPr>
            </a:pPr>
            <a:r>
              <a:t>Note: KPI values shown are the current dashboard figures supplied for this presentation; validate formulas and filter context before publication.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 i="0">
                <a:solidFill>
                  <a:srgbClr val="142748"/>
                </a:solidFill>
                <a:latin typeface="Aptos"/>
              </a:defRPr>
            </a:pPr>
            <a:r>
              <a:t>06 | KPI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 i="0">
                <a:solidFill>
                  <a:srgbClr val="657282"/>
                </a:solidFill>
                <a:latin typeface="Aptos"/>
              </a:defRPr>
            </a:pPr>
            <a:r>
              <a:t>Interpret measures in the context of report filters and formulas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88720"/>
            <a:ext cx="10972800" cy="22860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 i="0">
                <a:solidFill>
                  <a:srgbClr val="6572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5166360" cy="10789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682495"/>
            <a:ext cx="466344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500" b="1" i="0">
                <a:solidFill>
                  <a:srgbClr val="2C67B1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29967"/>
            <a:ext cx="466344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0" i="0">
                <a:solidFill>
                  <a:srgbClr val="2B3645"/>
                </a:solidFill>
                <a:latin typeface="Aptos"/>
              </a:defRPr>
            </a:pPr>
            <a:r>
              <a:t>Total sales amount for the selected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166360" cy="10789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682495"/>
            <a:ext cx="466344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500" b="1" i="0">
                <a:solidFill>
                  <a:srgbClr val="1F857D"/>
                </a:solidFill>
                <a:latin typeface="Aptos"/>
              </a:defRPr>
            </a:pPr>
            <a:r>
              <a:t>Total Quantity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029967"/>
            <a:ext cx="466344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0" i="0">
                <a:solidFill>
                  <a:srgbClr val="2B3645"/>
                </a:solidFill>
                <a:latin typeface="Aptos"/>
              </a:defRPr>
            </a:pPr>
            <a:r>
              <a:t>Quantity recorded in the selected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71800"/>
            <a:ext cx="5166360" cy="10789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099816"/>
            <a:ext cx="466344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500" b="1" i="0">
                <a:solidFill>
                  <a:srgbClr val="2C67B1"/>
                </a:solidFill>
                <a:latin typeface="Aptos"/>
              </a:defRPr>
            </a:pPr>
            <a:r>
              <a:t>Total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447288"/>
            <a:ext cx="466344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0" i="0">
                <a:solidFill>
                  <a:srgbClr val="2B3645"/>
                </a:solidFill>
                <a:latin typeface="Aptos"/>
              </a:defRPr>
            </a:pPr>
            <a:r>
              <a:t>Cost amount calculated for selected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971800"/>
            <a:ext cx="5166360" cy="10789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3099816"/>
            <a:ext cx="466344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500" b="1" i="0">
                <a:solidFill>
                  <a:srgbClr val="1F857D"/>
                </a:solidFill>
                <a:latin typeface="Aptos"/>
              </a:defRPr>
            </a:pPr>
            <a:r>
              <a:t>Total Sales 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3447288"/>
            <a:ext cx="466344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0" i="0">
                <a:solidFill>
                  <a:srgbClr val="2B3645"/>
                </a:solidFill>
                <a:latin typeface="Aptos"/>
              </a:defRPr>
            </a:pPr>
            <a:r>
              <a:t>Count of sales-line records in the current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389120"/>
            <a:ext cx="5166360" cy="10789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4517136"/>
            <a:ext cx="466344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500" b="1" i="0">
                <a:solidFill>
                  <a:srgbClr val="2C67B1"/>
                </a:solidFill>
                <a:latin typeface="Aptos"/>
              </a:defRPr>
            </a:pPr>
            <a:r>
              <a:t>Profit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864608"/>
            <a:ext cx="466344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0" i="0">
                <a:solidFill>
                  <a:srgbClr val="2B3645"/>
                </a:solidFill>
                <a:latin typeface="Aptos"/>
              </a:defRPr>
            </a:pPr>
            <a:r>
              <a:t>Margin based on the measure formula configured in the report.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389120"/>
            <a:ext cx="5166360" cy="10789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4517136"/>
            <a:ext cx="466344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500" b="1" i="0">
                <a:solidFill>
                  <a:srgbClr val="1F857D"/>
                </a:solidFill>
                <a:latin typeface="Aptos"/>
              </a:defRPr>
            </a:pPr>
            <a:r>
              <a:t>Product Cost Based Profit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4864608"/>
            <a:ext cx="466344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0" i="0">
                <a:solidFill>
                  <a:srgbClr val="2B3645"/>
                </a:solidFill>
                <a:latin typeface="Aptos"/>
              </a:defRPr>
            </a:pPr>
            <a:r>
              <a:t>Sales revenue less the product-cost amount used by the measure.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89320"/>
            <a:ext cx="1051560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 i="1">
                <a:solidFill>
                  <a:srgbClr val="657282"/>
                </a:solidFill>
                <a:latin typeface="Aptos"/>
              </a:defRPr>
            </a:pPr>
            <a:r>
              <a:t>Use matching filters and calculation definitions when comparing Power BI metrics with SQL outputs.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 i="0">
                <a:solidFill>
                  <a:srgbClr val="142748"/>
                </a:solidFill>
                <a:latin typeface="Aptos"/>
              </a:defRPr>
            </a:pPr>
            <a:r>
              <a:t>07 | 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 i="0">
                <a:solidFill>
                  <a:srgbClr val="657282"/>
                </a:solidFill>
                <a:latin typeface="Aptos"/>
              </a:defRPr>
            </a:pPr>
            <a:r>
              <a:t>Five-stage reporting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88720"/>
            <a:ext cx="10972800" cy="22860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 i="0">
                <a:solidFill>
                  <a:srgbClr val="6572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965960" cy="1874519"/>
          </a:xfrm>
          <a:prstGeom prst="roundRect">
            <a:avLst/>
          </a:prstGeom>
          <a:solidFill>
            <a:srgbClr val="E4EE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112264"/>
            <a:ext cx="1746504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200" b="1" i="0">
                <a:solidFill>
                  <a:srgbClr val="2C67B1"/>
                </a:solidFill>
                <a:latin typeface="Aptos"/>
              </a:defRPr>
            </a:pPr>
            <a:r>
              <a:t>1. SOURCE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51760"/>
            <a:ext cx="1746504" cy="8686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0" i="0">
                <a:solidFill>
                  <a:srgbClr val="142748"/>
                </a:solidFill>
                <a:latin typeface="Aptos"/>
              </a:defRPr>
            </a:pPr>
            <a:r>
              <a:t>AdventureWorksDW2025</a:t>
            </a:r>
          </a:p>
          <a:p>
            <a:pPr algn="ctr">
              <a:defRPr sz="1300" b="0" i="0">
                <a:solidFill>
                  <a:srgbClr val="142748"/>
                </a:solidFill>
                <a:latin typeface="Aptos"/>
              </a:defRPr>
            </a:pPr>
            <a:r>
              <a:t>Sales • Products • Customers</a:t>
            </a:r>
          </a:p>
        </p:txBody>
      </p:sp>
      <p:sp>
        <p:nvSpPr>
          <p:cNvPr id="9" name="Chevron 8"/>
          <p:cNvSpPr/>
          <p:nvPr/>
        </p:nvSpPr>
        <p:spPr>
          <a:xfrm>
            <a:off x="2660903" y="2743200"/>
            <a:ext cx="256032" cy="320040"/>
          </a:xfrm>
          <a:prstGeom prst="chevron">
            <a:avLst/>
          </a:prstGeom>
          <a:solidFill>
            <a:srgbClr val="2C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90087" y="1965960"/>
            <a:ext cx="1965960" cy="1874519"/>
          </a:xfrm>
          <a:prstGeom prst="roundRect">
            <a:avLst/>
          </a:prstGeom>
          <a:solidFill>
            <a:srgbClr val="E0F3E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9815" y="2112264"/>
            <a:ext cx="1746504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200" b="1" i="0">
                <a:solidFill>
                  <a:srgbClr val="1F857D"/>
                </a:solidFill>
                <a:latin typeface="Aptos"/>
              </a:defRPr>
            </a:pPr>
            <a:r>
              <a:t>2. SQL SERVER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5" y="2651760"/>
            <a:ext cx="1746504" cy="8686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0" i="0">
                <a:solidFill>
                  <a:srgbClr val="142748"/>
                </a:solidFill>
                <a:latin typeface="Aptos"/>
              </a:defRPr>
            </a:pPr>
            <a:r>
              <a:t>Database • SQL queries</a:t>
            </a:r>
          </a:p>
          <a:p>
            <a:pPr algn="ctr">
              <a:defRPr sz="1300" b="0" i="0">
                <a:solidFill>
                  <a:srgbClr val="142748"/>
                </a:solidFill>
                <a:latin typeface="Aptos"/>
              </a:defRPr>
            </a:pPr>
            <a:r>
              <a:t>Metrics • Validation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5010912" y="2743200"/>
            <a:ext cx="256032" cy="320040"/>
          </a:xfrm>
          <a:prstGeom prst="chevron">
            <a:avLst/>
          </a:prstGeom>
          <a:solidFill>
            <a:srgbClr val="2C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40096" y="1965960"/>
            <a:ext cx="1965960" cy="1874519"/>
          </a:xfrm>
          <a:prstGeom prst="roundRect">
            <a:avLst/>
          </a:prstGeom>
          <a:solidFill>
            <a:srgbClr val="FCF4E1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9824" y="2112264"/>
            <a:ext cx="1746504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200" b="1" i="0">
                <a:solidFill>
                  <a:srgbClr val="D69D3A"/>
                </a:solidFill>
                <a:latin typeface="Aptos"/>
              </a:defRPr>
            </a:pPr>
            <a:r>
              <a:t>3. 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2651760"/>
            <a:ext cx="1746504" cy="8686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0" i="0">
                <a:solidFill>
                  <a:srgbClr val="142748"/>
                </a:solidFill>
                <a:latin typeface="Aptos"/>
              </a:defRPr>
            </a:pPr>
            <a:r>
              <a:t>Cleaning • Transformation</a:t>
            </a:r>
          </a:p>
          <a:p>
            <a:pPr algn="ctr">
              <a:defRPr sz="1300" b="0" i="0">
                <a:solidFill>
                  <a:srgbClr val="142748"/>
                </a:solidFill>
                <a:latin typeface="Aptos"/>
              </a:defRPr>
            </a:pPr>
            <a:r>
              <a:t>Reporting-ready data</a:t>
            </a:r>
          </a:p>
        </p:txBody>
      </p:sp>
      <p:sp>
        <p:nvSpPr>
          <p:cNvPr id="17" name="Chevron 16"/>
          <p:cNvSpPr/>
          <p:nvPr/>
        </p:nvSpPr>
        <p:spPr>
          <a:xfrm>
            <a:off x="7360920" y="2743200"/>
            <a:ext cx="256032" cy="320040"/>
          </a:xfrm>
          <a:prstGeom prst="chevron">
            <a:avLst/>
          </a:prstGeom>
          <a:solidFill>
            <a:srgbClr val="2C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90103" y="1965960"/>
            <a:ext cx="1965960" cy="1874519"/>
          </a:xfrm>
          <a:prstGeom prst="roundRect">
            <a:avLst/>
          </a:prstGeom>
          <a:solidFill>
            <a:srgbClr val="EEE7F9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2112264"/>
            <a:ext cx="1746504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200" b="1" i="0">
                <a:solidFill>
                  <a:srgbClr val="6E50A3"/>
                </a:solidFill>
                <a:latin typeface="Aptos"/>
              </a:defRPr>
            </a:pPr>
            <a:r>
              <a:t>4. POWER BI DESKTOP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1" y="2651760"/>
            <a:ext cx="1746504" cy="8686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0" i="0">
                <a:solidFill>
                  <a:srgbClr val="142748"/>
                </a:solidFill>
                <a:latin typeface="Aptos"/>
              </a:defRPr>
            </a:pPr>
            <a:r>
              <a:t>KPIs • Slicers</a:t>
            </a:r>
          </a:p>
          <a:p>
            <a:pPr algn="ctr">
              <a:defRPr sz="1300" b="0" i="0">
                <a:solidFill>
                  <a:srgbClr val="142748"/>
                </a:solidFill>
                <a:latin typeface="Aptos"/>
              </a:defRPr>
            </a:pPr>
            <a:r>
              <a:t>Charts • Dashboard</a:t>
            </a:r>
          </a:p>
        </p:txBody>
      </p:sp>
      <p:sp>
        <p:nvSpPr>
          <p:cNvPr id="21" name="Chevron 20"/>
          <p:cNvSpPr/>
          <p:nvPr/>
        </p:nvSpPr>
        <p:spPr>
          <a:xfrm>
            <a:off x="9710928" y="2743200"/>
            <a:ext cx="256032" cy="320040"/>
          </a:xfrm>
          <a:prstGeom prst="chevron">
            <a:avLst/>
          </a:prstGeom>
          <a:solidFill>
            <a:srgbClr val="2C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40111" y="1965960"/>
            <a:ext cx="1965960" cy="187451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9" y="2112264"/>
            <a:ext cx="1746504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200" b="1" i="0">
                <a:solidFill>
                  <a:srgbClr val="142748"/>
                </a:solidFill>
                <a:latin typeface="Aptos"/>
              </a:defRPr>
            </a:pPr>
            <a:r>
              <a:t>5. BUSINESS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9" y="2651760"/>
            <a:ext cx="1746504" cy="8686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0" i="0">
                <a:solidFill>
                  <a:srgbClr val="142748"/>
                </a:solidFill>
                <a:latin typeface="Aptos"/>
              </a:defRPr>
            </a:pPr>
            <a:r>
              <a:t>Trends • Comparisons</a:t>
            </a:r>
          </a:p>
          <a:p>
            <a:pPr algn="ctr">
              <a:defRPr sz="1300" b="0" i="0">
                <a:solidFill>
                  <a:srgbClr val="142748"/>
                </a:solidFill>
                <a:latin typeface="Aptos"/>
              </a:defRPr>
            </a:pPr>
            <a:r>
              <a:t>Performance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80" y="4709160"/>
            <a:ext cx="7269480" cy="685800"/>
          </a:xfrm>
          <a:prstGeom prst="roundRect">
            <a:avLst/>
          </a:prstGeom>
          <a:solidFill>
            <a:srgbClr val="142748"/>
          </a:solidFill>
          <a:ln w="12700"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40" y="4782312"/>
            <a:ext cx="69951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FROM RAW DATA TO BUSINESS 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 i="1">
                <a:solidFill>
                  <a:srgbClr val="657282"/>
                </a:solidFill>
                <a:latin typeface="Aptos"/>
              </a:defRPr>
            </a:pPr>
            <a:r>
              <a:t>Architecture reflects the implemented local SQL Server and Power BI Desktop workflow; cloud deployment is not assumed.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 i="0">
                <a:solidFill>
                  <a:srgbClr val="142748"/>
                </a:solidFill>
                <a:latin typeface="Aptos"/>
              </a:defRPr>
            </a:pPr>
            <a:r>
              <a:t>08 | 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 i="0">
                <a:solidFill>
                  <a:srgbClr val="657282"/>
                </a:solidFill>
                <a:latin typeface="Aptos"/>
              </a:defRPr>
            </a:pPr>
            <a:r>
              <a:t>Record evidence before marking a test as passed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88720"/>
            <a:ext cx="10972800" cy="22860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 i="0">
                <a:solidFill>
                  <a:srgbClr val="6572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5276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224028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1" i="0">
                <a:solidFill>
                  <a:srgbClr val="142748"/>
                </a:solidFill>
                <a:latin typeface="Aptos"/>
              </a:defRPr>
            </a:pPr>
            <a:r>
              <a:t>SQL query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627632"/>
            <a:ext cx="47091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0" i="0">
                <a:solidFill>
                  <a:srgbClr val="2B3645"/>
                </a:solidFill>
                <a:latin typeface="Aptos"/>
              </a:defRPr>
            </a:pPr>
            <a:r>
              <a:t>Queries complete without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627632"/>
            <a:ext cx="306324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1" i="0">
                <a:solidFill>
                  <a:srgbClr val="D69D3A"/>
                </a:solidFill>
                <a:latin typeface="Aptos"/>
              </a:defRPr>
            </a:pPr>
            <a:r>
              <a:t>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59152"/>
            <a:ext cx="10652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32304"/>
            <a:ext cx="224028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1" i="0">
                <a:solidFill>
                  <a:srgbClr val="142748"/>
                </a:solidFill>
                <a:latin typeface="Aptos"/>
              </a:defRPr>
            </a:pPr>
            <a:r>
              <a:t>Sales totals &amp; record 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432304"/>
            <a:ext cx="47091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0" i="0">
                <a:solidFill>
                  <a:srgbClr val="2B3645"/>
                </a:solidFill>
                <a:latin typeface="Aptos"/>
              </a:defRPr>
            </a:pPr>
            <a:r>
              <a:t>Match verified SQL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432304"/>
            <a:ext cx="306324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1" i="0">
                <a:solidFill>
                  <a:srgbClr val="D69D3A"/>
                </a:solidFill>
                <a:latin typeface="Aptos"/>
              </a:defRPr>
            </a:pPr>
            <a:r>
              <a:t>Pending verification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163824"/>
            <a:ext cx="1065276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224028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1" i="0">
                <a:solidFill>
                  <a:srgbClr val="142748"/>
                </a:solidFill>
                <a:latin typeface="Aptos"/>
              </a:defRPr>
            </a:pPr>
            <a:r>
              <a:t>KPI display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236976"/>
            <a:ext cx="47091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0" i="0">
                <a:solidFill>
                  <a:srgbClr val="2B3645"/>
                </a:solidFill>
                <a:latin typeface="Aptos"/>
              </a:defRPr>
            </a:pPr>
            <a:r>
              <a:t>Six KPI cards display expected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236976"/>
            <a:ext cx="306324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1" i="0">
                <a:solidFill>
                  <a:srgbClr val="D69D3A"/>
                </a:solidFill>
                <a:latin typeface="Aptos"/>
              </a:defRPr>
            </a:pPr>
            <a:r>
              <a:t>Confirm in 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968496"/>
            <a:ext cx="10652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224028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1" i="0">
                <a:solidFill>
                  <a:srgbClr val="142748"/>
                </a:solidFill>
                <a:latin typeface="Aptos"/>
              </a:defRPr>
            </a:pPr>
            <a:r>
              <a:t>Charts &amp; slicers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041648"/>
            <a:ext cx="47091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0" i="0">
                <a:solidFill>
                  <a:srgbClr val="2B3645"/>
                </a:solidFill>
                <a:latin typeface="Aptos"/>
              </a:defRPr>
            </a:pPr>
            <a:r>
              <a:t>Visuals render and respond to filters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041648"/>
            <a:ext cx="306324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1" i="0">
                <a:solidFill>
                  <a:srgbClr val="D69D3A"/>
                </a:solidFill>
                <a:latin typeface="Aptos"/>
              </a:defRPr>
            </a:pPr>
            <a:r>
              <a:t>Pending verification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773168"/>
            <a:ext cx="1065276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846320"/>
            <a:ext cx="224028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1" i="0">
                <a:solidFill>
                  <a:srgbClr val="142748"/>
                </a:solidFill>
                <a:latin typeface="Aptos"/>
              </a:defRPr>
            </a:pPr>
            <a:r>
              <a:t>SQL ↔ Power BI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846320"/>
            <a:ext cx="47091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0" i="0">
                <a:solidFill>
                  <a:srgbClr val="2B3645"/>
                </a:solidFill>
                <a:latin typeface="Aptos"/>
              </a:defRPr>
            </a:pPr>
            <a:r>
              <a:t>Same filters and formulas give consistent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846320"/>
            <a:ext cx="306324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1" i="0">
                <a:solidFill>
                  <a:srgbClr val="D69D3A"/>
                </a:solidFill>
                <a:latin typeface="Aptos"/>
              </a:defRPr>
            </a:pPr>
            <a:r>
              <a:t>Pending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06440"/>
            <a:ext cx="1042416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 i="1">
                <a:solidFill>
                  <a:srgbClr val="657282"/>
                </a:solidFill>
                <a:latin typeface="Aptos"/>
              </a:defRPr>
            </a:pPr>
            <a:r>
              <a:t>Do not report unverified checks as passed. Update status after testing and retain evidence where possible.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 i="0">
                <a:solidFill>
                  <a:srgbClr val="142748"/>
                </a:solidFill>
                <a:latin typeface="Aptos"/>
              </a:defRPr>
            </a:pPr>
            <a:r>
              <a:t>09 | Limitations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 i="0">
                <a:solidFill>
                  <a:srgbClr val="657282"/>
                </a:solidFill>
                <a:latin typeface="Aptos"/>
              </a:defRPr>
            </a:pPr>
            <a:r>
              <a:t>Current scope and possible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88720"/>
            <a:ext cx="10972800" cy="22860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 i="0">
                <a:solidFill>
                  <a:srgbClr val="6572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43400"/>
          </a:xfrm>
          <a:prstGeom prst="roundRect">
            <a:avLst/>
          </a:prstGeom>
          <a:solidFill>
            <a:srgbClr val="FCF4E1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66344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 i="0">
                <a:solidFill>
                  <a:srgbClr val="D69D3A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572000" cy="28346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B3645"/>
                </a:solidFill>
                <a:latin typeface="Aptos"/>
              </a:defRPr>
            </a:pPr>
            <a:r>
              <a:t>•  Uses a sample data warehouse</a:t>
            </a:r>
          </a:p>
          <a:p>
            <a:pPr>
              <a:spcAft>
                <a:spcPts val="1200"/>
              </a:spcAft>
              <a:defRPr sz="1600">
                <a:solidFill>
                  <a:srgbClr val="2B3645"/>
                </a:solidFill>
                <a:latin typeface="Aptos"/>
              </a:defRPr>
            </a:pPr>
            <a:r>
              <a:t>•  Results depend on filters and measure definitions</a:t>
            </a:r>
          </a:p>
          <a:p>
            <a:pPr>
              <a:spcAft>
                <a:spcPts val="1200"/>
              </a:spcAft>
              <a:defRPr sz="1600">
                <a:solidFill>
                  <a:srgbClr val="2B3645"/>
                </a:solidFill>
                <a:latin typeface="Aptos"/>
              </a:defRPr>
            </a:pPr>
            <a:r>
              <a:t>•  Business conclusions require validation</a:t>
            </a:r>
          </a:p>
          <a:p>
            <a:pPr>
              <a:spcAft>
                <a:spcPts val="1200"/>
              </a:spcAft>
              <a:defRPr sz="1600">
                <a:solidFill>
                  <a:srgbClr val="2B3645"/>
                </a:solidFill>
                <a:latin typeface="Aptos"/>
              </a:defRPr>
            </a:pPr>
            <a:r>
              <a:t>•  Service deployment and scheduled refresh are not assumed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212080" cy="4343400"/>
          </a:xfrm>
          <a:prstGeom prst="roundRect">
            <a:avLst/>
          </a:prstGeom>
          <a:solidFill>
            <a:srgbClr val="E0F3E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466344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 i="0">
                <a:solidFill>
                  <a:srgbClr val="1F857D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8346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B3645"/>
                </a:solidFill>
                <a:latin typeface="Aptos"/>
              </a:defRPr>
            </a:pPr>
            <a:r>
              <a:t>•  Publish to Power BI Service if required</a:t>
            </a:r>
          </a:p>
          <a:p>
            <a:pPr>
              <a:spcAft>
                <a:spcPts val="1200"/>
              </a:spcAft>
              <a:defRPr sz="1600">
                <a:solidFill>
                  <a:srgbClr val="2B3645"/>
                </a:solidFill>
                <a:latin typeface="Aptos"/>
              </a:defRPr>
            </a:pPr>
            <a:r>
              <a:t>•  Configure and test scheduled refresh</a:t>
            </a:r>
          </a:p>
          <a:p>
            <a:pPr>
              <a:spcAft>
                <a:spcPts val="1200"/>
              </a:spcAft>
              <a:defRPr sz="1600">
                <a:solidFill>
                  <a:srgbClr val="2B3645"/>
                </a:solidFill>
                <a:latin typeface="Aptos"/>
              </a:defRPr>
            </a:pPr>
            <a:r>
              <a:t>•  Improve modeling and performance</a:t>
            </a:r>
          </a:p>
          <a:p>
            <a:pPr>
              <a:spcAft>
                <a:spcPts val="1200"/>
              </a:spcAft>
              <a:defRPr sz="1600">
                <a:solidFill>
                  <a:srgbClr val="2B3645"/>
                </a:solidFill>
                <a:latin typeface="Aptos"/>
              </a:defRPr>
            </a:pPr>
            <a:r>
              <a:t>•  Add forecasting and deeper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 i="0">
                <a:solidFill>
                  <a:srgbClr val="142748"/>
                </a:solidFill>
                <a:latin typeface="Aptos"/>
              </a:defRPr>
            </a:pPr>
            <a:r>
              <a:t>10 | Project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 i="0">
                <a:solidFill>
                  <a:srgbClr val="657282"/>
                </a:solidFill>
                <a:latin typeface="Aptos"/>
              </a:defRPr>
            </a:pPr>
            <a:r>
              <a:t>Organized files for review and portfolio publication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88720"/>
            <a:ext cx="10972800" cy="22860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 i="0">
                <a:solidFill>
                  <a:srgbClr val="6572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1554480"/>
          </a:xfrm>
          <a:prstGeom prst="roundRect">
            <a:avLst/>
          </a:prstGeom>
          <a:solidFill>
            <a:srgbClr val="E4EE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6324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 i="0">
                <a:solidFill>
                  <a:srgbClr val="2C67B1"/>
                </a:solidFill>
                <a:latin typeface="Aptos"/>
              </a:defRPr>
            </a:pPr>
            <a:r>
              <a:t>SQL Scripts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306324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0" i="0">
                <a:solidFill>
                  <a:srgbClr val="2B3645"/>
                </a:solidFill>
                <a:latin typeface="Aptos"/>
              </a:defRPr>
            </a:pPr>
            <a:r>
              <a:t>Query and validation scripts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737360"/>
            <a:ext cx="3429000" cy="1554480"/>
          </a:xfrm>
          <a:prstGeom prst="roundRect">
            <a:avLst/>
          </a:prstGeom>
          <a:solidFill>
            <a:srgbClr val="EEE7F9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306324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 i="0">
                <a:solidFill>
                  <a:srgbClr val="6E50A3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95728"/>
            <a:ext cx="306324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0" i="0">
                <a:solidFill>
                  <a:srgbClr val="2B3645"/>
                </a:solidFill>
                <a:latin typeface="Aptos"/>
              </a:defRPr>
            </a:pPr>
            <a:r>
              <a:t>Interactive dashboard 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737360"/>
            <a:ext cx="3429000" cy="1554480"/>
          </a:xfrm>
          <a:prstGeom prst="roundRect">
            <a:avLst/>
          </a:prstGeom>
          <a:solidFill>
            <a:srgbClr val="E0F3E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920240"/>
            <a:ext cx="306324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 i="0">
                <a:solidFill>
                  <a:srgbClr val="1F857D"/>
                </a:solidFill>
                <a:latin typeface="Aptos"/>
              </a:defRPr>
            </a:pPr>
            <a:r>
              <a:t>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95728"/>
            <a:ext cx="306324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0" i="0">
                <a:solidFill>
                  <a:srgbClr val="2B3645"/>
                </a:solidFill>
                <a:latin typeface="Aptos"/>
              </a:defRPr>
            </a:pPr>
            <a:r>
              <a:t>Project overview and methodology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3429000" cy="1554480"/>
          </a:xfrm>
          <a:prstGeom prst="roundRect">
            <a:avLst/>
          </a:prstGeom>
          <a:solidFill>
            <a:srgbClr val="FCF4E1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306324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 i="0">
                <a:solidFill>
                  <a:srgbClr val="D69D3A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07407"/>
            <a:ext cx="306324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0" i="0">
                <a:solidFill>
                  <a:srgbClr val="2B3645"/>
                </a:solidFill>
                <a:latin typeface="Aptos"/>
              </a:defRPr>
            </a:pPr>
            <a:r>
              <a:t>Workflow diagram and source 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749039"/>
            <a:ext cx="3429000" cy="15544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931920"/>
            <a:ext cx="306324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 i="0">
                <a:solidFill>
                  <a:srgbClr val="142748"/>
                </a:solidFill>
                <a:latin typeface="Aptos"/>
              </a:defRPr>
            </a:pPr>
            <a:r>
              <a:t>Test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407407"/>
            <a:ext cx="306324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0" i="0">
                <a:solidFill>
                  <a:srgbClr val="2B3645"/>
                </a:solidFill>
                <a:latin typeface="Aptos"/>
              </a:defRPr>
            </a:pPr>
            <a:r>
              <a:t>Test cases and actual outcomes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749039"/>
            <a:ext cx="3429000" cy="1554480"/>
          </a:xfrm>
          <a:prstGeom prst="roundRect">
            <a:avLst/>
          </a:prstGeom>
          <a:solidFill>
            <a:srgbClr val="E0F3E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3931920"/>
            <a:ext cx="306324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 i="0">
                <a:solidFill>
                  <a:srgbClr val="297E55"/>
                </a:solidFill>
                <a:latin typeface="Aptos"/>
              </a:defRPr>
            </a:pPr>
            <a:r>
              <a:t>Demo &amp;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407407"/>
            <a:ext cx="306324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0" i="0">
                <a:solidFill>
                  <a:srgbClr val="2B3645"/>
                </a:solidFill>
                <a:latin typeface="Aptos"/>
              </a:defRPr>
            </a:pPr>
            <a:r>
              <a:t>Walkthrough video and slides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43600"/>
            <a:ext cx="1042416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 i="1">
                <a:solidFill>
                  <a:srgbClr val="657282"/>
                </a:solidFill>
                <a:latin typeface="Aptos"/>
              </a:defRPr>
            </a:pPr>
            <a:r>
              <a:t>Final repository should include only files that are complete, accurate and safe to share.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2748"/>
          </a:solidFill>
          <a:ln w="12700"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32720" cy="8229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3400" b="1" i="0">
                <a:solidFill>
                  <a:srgbClr val="142748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 i="0">
                <a:solidFill>
                  <a:srgbClr val="2C67B1"/>
                </a:solidFill>
                <a:latin typeface="Aptos"/>
              </a:defRPr>
            </a:pPr>
            <a:r>
              <a:t>Enterprise Business Intelligence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71800"/>
            <a:ext cx="8503920" cy="8229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700" b="0" i="0">
                <a:solidFill>
                  <a:srgbClr val="2B3645"/>
                </a:solidFill>
                <a:latin typeface="Aptos"/>
              </a:defRPr>
            </a:pPr>
            <a:r>
              <a:t>SQL Server • Power BI • Sales Analytics • Business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343400"/>
            <a:ext cx="66751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480560"/>
            <a:ext cx="63093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600" b="1" i="0">
                <a:solidFill>
                  <a:srgbClr val="142748"/>
                </a:solidFill>
                <a:latin typeface="Aptos"/>
              </a:defRPr>
            </a:pPr>
            <a:r>
              <a:t>Prepared by: Yamini Gongati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200" b="0" i="0">
                <a:solidFill>
                  <a:srgbClr val="657282"/>
                </a:solidFill>
                <a:latin typeface="Aptos"/>
              </a:defRPr>
            </a:pPr>
            <a:r>
              <a:t>Nexvia Technologies | Data Analytics Internship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 i="0">
                <a:solidFill>
                  <a:srgbClr val="657282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